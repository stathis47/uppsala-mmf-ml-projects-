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19FFC8-3B52-4672-959A-9433CE31A81D}" v="94" dt="2025-10-16T16:53:06.1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athis Papadopoulos" userId="2ba2f7a259241773" providerId="LiveId" clId="{341F540D-977D-43D2-B123-140C2DA0CB71}"/>
    <pc:docChg chg="undo custSel modSld">
      <pc:chgData name="Stathis Papadopoulos" userId="2ba2f7a259241773" providerId="LiveId" clId="{341F540D-977D-43D2-B123-140C2DA0CB71}" dt="2025-10-15T11:11:07.048" v="332" actId="113"/>
      <pc:docMkLst>
        <pc:docMk/>
      </pc:docMkLst>
      <pc:sldChg chg="addSp delSp modSp mod delAnim modAnim">
        <pc:chgData name="Stathis Papadopoulos" userId="2ba2f7a259241773" providerId="LiveId" clId="{341F540D-977D-43D2-B123-140C2DA0CB71}" dt="2025-10-14T11:08:57.386" v="264" actId="20577"/>
        <pc:sldMkLst>
          <pc:docMk/>
          <pc:sldMk cId="0" sldId="256"/>
        </pc:sldMkLst>
        <pc:spChg chg="mod">
          <ac:chgData name="Stathis Papadopoulos" userId="2ba2f7a259241773" providerId="LiveId" clId="{341F540D-977D-43D2-B123-140C2DA0CB71}" dt="2025-10-14T09:56:26.164" v="174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Stathis Papadopoulos" userId="2ba2f7a259241773" providerId="LiveId" clId="{341F540D-977D-43D2-B123-140C2DA0CB71}" dt="2025-10-14T11:08:57.386" v="264" actId="20577"/>
          <ac:spMkLst>
            <pc:docMk/>
            <pc:sldMk cId="0" sldId="256"/>
            <ac:spMk id="4" creationId="{00000000-0000-0000-0000-000000000000}"/>
          </ac:spMkLst>
        </pc:spChg>
        <pc:picChg chg="add mod">
          <ac:chgData name="Stathis Papadopoulos" userId="2ba2f7a259241773" providerId="LiveId" clId="{341F540D-977D-43D2-B123-140C2DA0CB71}" dt="2025-10-14T10:22:07.734" v="242" actId="1076"/>
          <ac:picMkLst>
            <pc:docMk/>
            <pc:sldMk cId="0" sldId="256"/>
            <ac:picMk id="6" creationId="{2A9A1711-A696-EA7E-3BA5-981CE618D503}"/>
          </ac:picMkLst>
        </pc:picChg>
        <pc:picChg chg="add mod">
          <ac:chgData name="Stathis Papadopoulos" userId="2ba2f7a259241773" providerId="LiveId" clId="{341F540D-977D-43D2-B123-140C2DA0CB71}" dt="2025-10-14T09:57:04.180" v="182" actId="14100"/>
          <ac:picMkLst>
            <pc:docMk/>
            <pc:sldMk cId="0" sldId="256"/>
            <ac:picMk id="7" creationId="{7872D86A-68B9-8AF4-0979-20E3340643EA}"/>
          </ac:picMkLst>
        </pc:picChg>
        <pc:picChg chg="add mod">
          <ac:chgData name="Stathis Papadopoulos" userId="2ba2f7a259241773" providerId="LiveId" clId="{341F540D-977D-43D2-B123-140C2DA0CB71}" dt="2025-10-14T10:22:14.554" v="244" actId="1076"/>
          <ac:picMkLst>
            <pc:docMk/>
            <pc:sldMk cId="0" sldId="256"/>
            <ac:picMk id="10" creationId="{2E0DF4DC-2224-3DFB-C224-142D6F6818CB}"/>
          </ac:picMkLst>
        </pc:picChg>
      </pc:sldChg>
      <pc:sldChg chg="addSp delSp modSp mod modAnim">
        <pc:chgData name="Stathis Papadopoulos" userId="2ba2f7a259241773" providerId="LiveId" clId="{341F540D-977D-43D2-B123-140C2DA0CB71}" dt="2025-10-15T11:11:07.048" v="332" actId="113"/>
        <pc:sldMkLst>
          <pc:docMk/>
          <pc:sldMk cId="0" sldId="257"/>
        </pc:sldMkLst>
        <pc:spChg chg="add del mod">
          <ac:chgData name="Stathis Papadopoulos" userId="2ba2f7a259241773" providerId="LiveId" clId="{341F540D-977D-43D2-B123-140C2DA0CB71}" dt="2025-10-14T13:49:21.600" v="272" actId="1076"/>
          <ac:spMkLst>
            <pc:docMk/>
            <pc:sldMk cId="0" sldId="257"/>
            <ac:spMk id="3" creationId="{00000000-0000-0000-0000-000000000000}"/>
          </ac:spMkLst>
        </pc:spChg>
        <pc:spChg chg="mod">
          <ac:chgData name="Stathis Papadopoulos" userId="2ba2f7a259241773" providerId="LiveId" clId="{341F540D-977D-43D2-B123-140C2DA0CB71}" dt="2025-10-15T11:11:07.048" v="332" actId="113"/>
          <ac:spMkLst>
            <pc:docMk/>
            <pc:sldMk cId="0" sldId="257"/>
            <ac:spMk id="4" creationId="{00000000-0000-0000-0000-000000000000}"/>
          </ac:spMkLst>
        </pc:spChg>
        <pc:picChg chg="add mod">
          <ac:chgData name="Stathis Papadopoulos" userId="2ba2f7a259241773" providerId="LiveId" clId="{341F540D-977D-43D2-B123-140C2DA0CB71}" dt="2025-10-15T11:10:52.530" v="323" actId="14100"/>
          <ac:picMkLst>
            <pc:docMk/>
            <pc:sldMk cId="0" sldId="257"/>
            <ac:picMk id="5" creationId="{79D01BE0-ED01-8627-6D31-0A7B2512C514}"/>
          </ac:picMkLst>
        </pc:picChg>
        <pc:picChg chg="add del mod">
          <ac:chgData name="Stathis Papadopoulos" userId="2ba2f7a259241773" providerId="LiveId" clId="{341F540D-977D-43D2-B123-140C2DA0CB71}" dt="2025-10-15T11:10:16.878" v="308" actId="21"/>
          <ac:picMkLst>
            <pc:docMk/>
            <pc:sldMk cId="0" sldId="257"/>
            <ac:picMk id="6" creationId="{A4FB5E37-6872-C84A-471F-0A84EF8F663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182880"/>
            <a:ext cx="833932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dirty="0"/>
              <a:t>Counter-Pressing Effect</a:t>
            </a:r>
            <a:r>
              <a:rPr lang="en-US" dirty="0"/>
              <a:t> Value</a:t>
            </a:r>
            <a:r>
              <a:rPr dirty="0"/>
              <a:t> (CPE</a:t>
            </a:r>
            <a:r>
              <a:rPr lang="en-US" dirty="0"/>
              <a:t>V</a:t>
            </a:r>
            <a:r>
              <a:rPr dirty="0"/>
              <a:t>)</a:t>
            </a:r>
            <a:endParaRPr lang="en-US" dirty="0"/>
          </a:p>
          <a:p>
            <a:pPr>
              <a:defRPr sz="2800" b="1"/>
            </a:pPr>
            <a:r>
              <a:rPr dirty="0"/>
              <a:t>How </a:t>
            </a:r>
            <a:r>
              <a:rPr lang="en-US" dirty="0"/>
              <a:t>can </a:t>
            </a:r>
            <a:r>
              <a:rPr dirty="0"/>
              <a:t>Midfielders Create Danger</a:t>
            </a:r>
            <a:r>
              <a:rPr lang="en-US" dirty="0"/>
              <a:t> through Counter Pressing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55442" y="4282608"/>
            <a:ext cx="50292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sz="1200" dirty="0"/>
              <a:t>Measures how dangerous a midfielder is immediately after regaining the ball.</a:t>
            </a:r>
          </a:p>
          <a:p>
            <a:pPr>
              <a:defRPr sz="1800"/>
            </a:pPr>
            <a:r>
              <a:rPr sz="1200" dirty="0"/>
              <a:t>Three key factors:</a:t>
            </a:r>
          </a:p>
          <a:p>
            <a:pPr lvl="1">
              <a:defRPr sz="1800"/>
            </a:pPr>
            <a:r>
              <a:rPr sz="1200" dirty="0"/>
              <a:t>  • Location of the regain – central recoveries closer to goal are most dangerous.</a:t>
            </a:r>
          </a:p>
          <a:p>
            <a:pPr lvl="1">
              <a:defRPr sz="1800"/>
            </a:pPr>
            <a:r>
              <a:rPr sz="1200" dirty="0"/>
              <a:t>  • Opponent disorganization – stretched defenses increase threat.</a:t>
            </a:r>
          </a:p>
          <a:p>
            <a:pPr lvl="1">
              <a:defRPr sz="1800"/>
            </a:pPr>
            <a:r>
              <a:rPr sz="1200" dirty="0"/>
              <a:t>  • Immediate action – progressive passes, dribbles, or carries.</a:t>
            </a:r>
          </a:p>
          <a:p>
            <a:pPr>
              <a:defRPr sz="1800"/>
            </a:pPr>
            <a:r>
              <a:rPr sz="1200" dirty="0"/>
              <a:t>Each recovery is scored based on whether it leads to a shot inside the penalty area within 1</a:t>
            </a:r>
            <a:r>
              <a:rPr lang="en-US" sz="1200" dirty="0"/>
              <a:t>0</a:t>
            </a:r>
            <a:r>
              <a:rPr sz="1200" dirty="0"/>
              <a:t> seconds.</a:t>
            </a:r>
          </a:p>
          <a:p>
            <a:pPr>
              <a:defRPr sz="1800"/>
            </a:pPr>
            <a:r>
              <a:rPr sz="1200" dirty="0"/>
              <a:t>Aggregated over a player’s minutes to evaluate overall effectiveness.</a:t>
            </a:r>
          </a:p>
        </p:txBody>
      </p:sp>
      <p:pic>
        <p:nvPicPr>
          <p:cNvPr id="6" name="Picture 5" descr="A blue and white grid with circles and lines&#10;&#10;AI-generated content may be incorrect.">
            <a:extLst>
              <a:ext uri="{FF2B5EF4-FFF2-40B4-BE49-F238E27FC236}">
                <a16:creationId xmlns:a16="http://schemas.microsoft.com/office/drawing/2014/main" id="{2A9A1711-A696-EA7E-3BA5-981CE618D5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211" y="1481939"/>
            <a:ext cx="4393692" cy="2934006"/>
          </a:xfrm>
          <a:prstGeom prst="rect">
            <a:avLst/>
          </a:prstGeom>
        </p:spPr>
      </p:pic>
      <p:pic>
        <p:nvPicPr>
          <p:cNvPr id="7" name="36a52927-45a3-43ed-bced-6812c87ec86b">
            <a:hlinkClick r:id="" action="ppaction://media"/>
            <a:extLst>
              <a:ext uri="{FF2B5EF4-FFF2-40B4-BE49-F238E27FC236}">
                <a16:creationId xmlns:a16="http://schemas.microsoft.com/office/drawing/2014/main" id="{7872D86A-68B9-8AF4-0979-20E3340643E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925312" y="1197864"/>
            <a:ext cx="2080800" cy="2651829"/>
          </a:xfrm>
          <a:prstGeom prst="rect">
            <a:avLst/>
          </a:prstGeom>
        </p:spPr>
      </p:pic>
      <p:pic>
        <p:nvPicPr>
          <p:cNvPr id="10" name="Picture 9" descr="A diagram of a football game&#10;&#10;AI-generated content may be incorrect.">
            <a:extLst>
              <a:ext uri="{FF2B5EF4-FFF2-40B4-BE49-F238E27FC236}">
                <a16:creationId xmlns:a16="http://schemas.microsoft.com/office/drawing/2014/main" id="{2E0DF4DC-2224-3DFB-C224-142D6F6818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4642" y="4082794"/>
            <a:ext cx="3611886" cy="223113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5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4612" y="193631"/>
            <a:ext cx="85770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dirty="0"/>
              <a:t>Top Midfielders by Counter-Pressing Effect</a:t>
            </a:r>
            <a:r>
              <a:rPr lang="en-US" dirty="0"/>
              <a:t> Value</a:t>
            </a:r>
            <a:r>
              <a:rPr dirty="0"/>
              <a:t> per 90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4612" y="4242475"/>
            <a:ext cx="831189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🔴 Recommendation: Suat Serdar (FC Schalke 04)</a:t>
            </a:r>
          </a:p>
          <a:p>
            <a:r>
              <a:rPr lang="en-US" sz="1600" b="1" dirty="0"/>
              <a:t>Why he’s the ideal signing for Liverpool:</a:t>
            </a:r>
            <a:endParaRPr lang="en-US" sz="1600" dirty="0"/>
          </a:p>
          <a:p>
            <a:r>
              <a:rPr lang="en-US" sz="1600" dirty="0"/>
              <a:t>🥇 </a:t>
            </a:r>
            <a:r>
              <a:rPr lang="en-US" sz="1600" b="1" dirty="0"/>
              <a:t>High Counter-Pressing Effect Value (CPEV)</a:t>
            </a:r>
            <a:r>
              <a:rPr lang="en-US" sz="1600" dirty="0"/>
              <a:t> – ranked </a:t>
            </a:r>
            <a:r>
              <a:rPr lang="en-US" sz="1600" b="1" dirty="0"/>
              <a:t>1</a:t>
            </a:r>
            <a:r>
              <a:rPr lang="en-US" sz="1600" b="1" baseline="30000" dirty="0"/>
              <a:t>st</a:t>
            </a:r>
            <a:r>
              <a:rPr lang="en-US" sz="1600" dirty="0"/>
              <a:t> </a:t>
            </a:r>
            <a:r>
              <a:rPr lang="en-US" sz="1600" b="1" dirty="0"/>
              <a:t>among all midfielders</a:t>
            </a:r>
            <a:r>
              <a:rPr lang="en-US" sz="1600" dirty="0"/>
              <a:t> across Europe’s top five leagues, showing elite ability to regain possession and generate attacking threat.</a:t>
            </a:r>
          </a:p>
          <a:p>
            <a:r>
              <a:rPr lang="en-US" sz="1600" dirty="0"/>
              <a:t>🇩🇪 </a:t>
            </a:r>
            <a:r>
              <a:rPr lang="en-US" sz="1600" b="1" dirty="0"/>
              <a:t>Bundesliga proven</a:t>
            </a:r>
            <a:r>
              <a:rPr lang="en-US" sz="1600" dirty="0"/>
              <a:t> – experienced in a physically intense and tactically demanding league, similar in tempo and style to the Premier League.</a:t>
            </a:r>
          </a:p>
          <a:p>
            <a:r>
              <a:rPr lang="en-US" sz="1600" dirty="0"/>
              <a:t>🧠 </a:t>
            </a:r>
            <a:r>
              <a:rPr lang="en-US" sz="1600" b="1" dirty="0"/>
              <a:t>Young, with potential upside</a:t>
            </a:r>
            <a:r>
              <a:rPr lang="en-US" sz="1600" dirty="0"/>
              <a:t> – at </a:t>
            </a:r>
            <a:r>
              <a:rPr lang="en-US" sz="1600" b="1" dirty="0"/>
              <a:t>21 years old</a:t>
            </a:r>
            <a:r>
              <a:rPr lang="en-US" sz="1600" dirty="0"/>
              <a:t>, Serdar still has significant room to grow tactically and technically under Klopp’s coaching.</a:t>
            </a:r>
          </a:p>
          <a:p>
            <a:r>
              <a:rPr lang="en-US" sz="1600" dirty="0"/>
              <a:t>💰 </a:t>
            </a:r>
            <a:r>
              <a:rPr lang="en-US" sz="1600" b="1" dirty="0"/>
              <a:t>Financially sustainable target</a:t>
            </a:r>
            <a:r>
              <a:rPr lang="en-US" sz="1600" dirty="0"/>
              <a:t> – with a </a:t>
            </a:r>
            <a:r>
              <a:rPr lang="en-US" sz="1600" b="1" dirty="0"/>
              <a:t>market value around £10 million</a:t>
            </a:r>
            <a:r>
              <a:rPr lang="en-US" sz="1600" dirty="0"/>
              <a:t>, he fits Liverpool’s recruitment model of acquiring high-potential players before they reach peak market price.</a:t>
            </a:r>
          </a:p>
        </p:txBody>
      </p:sp>
      <p:pic>
        <p:nvPicPr>
          <p:cNvPr id="5" name="Picture 4" descr="A graph with different colored bars&#10;&#10;AI-generated content may be incorrect.">
            <a:extLst>
              <a:ext uri="{FF2B5EF4-FFF2-40B4-BE49-F238E27FC236}">
                <a16:creationId xmlns:a16="http://schemas.microsoft.com/office/drawing/2014/main" id="{79D01BE0-ED01-8627-6D31-0A7B2512C5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729614"/>
            <a:ext cx="7479792" cy="335775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547</TotalTime>
  <Words>238</Words>
  <Application>Microsoft Office PowerPoint</Application>
  <PresentationFormat>On-screen Show (4:3)</PresentationFormat>
  <Paragraphs>17</Paragraphs>
  <Slides>2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Stathis Papadopoulos</cp:lastModifiedBy>
  <cp:revision>1</cp:revision>
  <dcterms:created xsi:type="dcterms:W3CDTF">2013-01-27T09:14:16Z</dcterms:created>
  <dcterms:modified xsi:type="dcterms:W3CDTF">2025-10-16T16:53:11Z</dcterms:modified>
  <cp:category/>
</cp:coreProperties>
</file>